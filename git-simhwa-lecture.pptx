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C1391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F05033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심화 강의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저장소 구조부터 Rebase, 되돌리기, 작업 공간 확장까지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1B1F2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39776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log --oneline --graph --all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035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jihee · Enssel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목차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417320"/>
            <a:ext cx="5408676" cy="868680"/>
          </a:xfrm>
          <a:prstGeom prst="roundRect">
            <a:avLst>
              <a:gd name="adj" fmla="val 9474"/>
            </a:avLst>
          </a:prstGeom>
          <a:solidFill>
            <a:srgbClr val="2D333B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591056"/>
            <a:ext cx="530352" cy="530352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7512" y="15910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417320"/>
            <a:ext cx="44028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Git과 GitHub의 차이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77356" y="1417320"/>
            <a:ext cx="5408676" cy="868680"/>
          </a:xfrm>
          <a:prstGeom prst="roundRect">
            <a:avLst>
              <a:gd name="adj" fmla="val 9474"/>
            </a:avLst>
          </a:prstGeom>
          <a:solidFill>
            <a:srgbClr val="2D333B"/>
          </a:solidFill>
          <a:ln/>
        </p:spPr>
      </p:sp>
      <p:sp>
        <p:nvSpPr>
          <p:cNvPr id="8" name="Shape 6"/>
          <p:cNvSpPr/>
          <p:nvPr/>
        </p:nvSpPr>
        <p:spPr>
          <a:xfrm>
            <a:off x="6441948" y="1591056"/>
            <a:ext cx="530352" cy="530352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41948" y="15910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146036" y="1417320"/>
            <a:ext cx="44028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저장소의 구조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2468880"/>
            <a:ext cx="5408676" cy="868680"/>
          </a:xfrm>
          <a:prstGeom prst="roundRect">
            <a:avLst>
              <a:gd name="adj" fmla="val 9474"/>
            </a:avLst>
          </a:prstGeom>
          <a:solidFill>
            <a:srgbClr val="2D333B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2642616"/>
            <a:ext cx="530352" cy="530352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7512" y="26426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2468880"/>
            <a:ext cx="44028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원격 저장소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77356" y="2468880"/>
            <a:ext cx="5408676" cy="868680"/>
          </a:xfrm>
          <a:prstGeom prst="roundRect">
            <a:avLst>
              <a:gd name="adj" fmla="val 9474"/>
            </a:avLst>
          </a:prstGeom>
          <a:solidFill>
            <a:srgbClr val="2D333B"/>
          </a:solidFill>
          <a:ln/>
        </p:spPr>
      </p:sp>
      <p:sp>
        <p:nvSpPr>
          <p:cNvPr id="16" name="Shape 14"/>
          <p:cNvSpPr/>
          <p:nvPr/>
        </p:nvSpPr>
        <p:spPr>
          <a:xfrm>
            <a:off x="6441948" y="2642616"/>
            <a:ext cx="530352" cy="530352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41948" y="26426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146036" y="2468880"/>
            <a:ext cx="44028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변경사항 이식하기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2920" y="3520440"/>
            <a:ext cx="5408676" cy="868680"/>
          </a:xfrm>
          <a:prstGeom prst="roundRect">
            <a:avLst>
              <a:gd name="adj" fmla="val 9474"/>
            </a:avLst>
          </a:prstGeom>
          <a:solidFill>
            <a:srgbClr val="2D333B"/>
          </a:solidFill>
          <a:ln/>
        </p:spPr>
      </p:sp>
      <p:sp>
        <p:nvSpPr>
          <p:cNvPr id="20" name="Shape 18"/>
          <p:cNvSpPr/>
          <p:nvPr/>
        </p:nvSpPr>
        <p:spPr>
          <a:xfrm>
            <a:off x="667512" y="3694176"/>
            <a:ext cx="530352" cy="530352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7512" y="36941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3520440"/>
            <a:ext cx="44028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Rebase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77356" y="3520440"/>
            <a:ext cx="5408676" cy="868680"/>
          </a:xfrm>
          <a:prstGeom prst="roundRect">
            <a:avLst>
              <a:gd name="adj" fmla="val 9474"/>
            </a:avLst>
          </a:prstGeom>
          <a:solidFill>
            <a:srgbClr val="2D333B"/>
          </a:solidFill>
          <a:ln/>
        </p:spPr>
      </p:sp>
      <p:sp>
        <p:nvSpPr>
          <p:cNvPr id="24" name="Shape 22"/>
          <p:cNvSpPr/>
          <p:nvPr/>
        </p:nvSpPr>
        <p:spPr>
          <a:xfrm>
            <a:off x="6441948" y="3694176"/>
            <a:ext cx="530352" cy="530352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41948" y="36941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146036" y="3520440"/>
            <a:ext cx="44028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되돌리기 전략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02920" y="4572000"/>
            <a:ext cx="5408676" cy="868680"/>
          </a:xfrm>
          <a:prstGeom prst="roundRect">
            <a:avLst>
              <a:gd name="adj" fmla="val 9474"/>
            </a:avLst>
          </a:prstGeom>
          <a:solidFill>
            <a:srgbClr val="2D333B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745736"/>
            <a:ext cx="530352" cy="530352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7512" y="47457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1371600" y="4572000"/>
            <a:ext cx="44028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공간 확장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277356" y="4572000"/>
            <a:ext cx="5408676" cy="868680"/>
          </a:xfrm>
          <a:prstGeom prst="roundRect">
            <a:avLst>
              <a:gd name="adj" fmla="val 9474"/>
            </a:avLst>
          </a:prstGeom>
          <a:solidFill>
            <a:srgbClr val="2D333B"/>
          </a:solidFill>
          <a:ln/>
        </p:spPr>
      </p:sp>
      <p:sp>
        <p:nvSpPr>
          <p:cNvPr id="32" name="Shape 30"/>
          <p:cNvSpPr/>
          <p:nvPr/>
        </p:nvSpPr>
        <p:spPr>
          <a:xfrm>
            <a:off x="6441948" y="4745736"/>
            <a:ext cx="530352" cy="530352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41948" y="47457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7146036" y="4572000"/>
            <a:ext cx="44028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마무리 &amp; 치트시트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F050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· GIT VS GITHUB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04672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Git과 GitHub, 뭐가 다른가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120640" cy="3383280"/>
          </a:xfrm>
          <a:prstGeom prst="roundRect">
            <a:avLst>
              <a:gd name="adj" fmla="val 3243"/>
            </a:avLst>
          </a:prstGeom>
          <a:solidFill>
            <a:srgbClr val="1B1F23"/>
          </a:solidFill>
          <a:ln w="15875">
            <a:solidFill>
              <a:srgbClr val="D0D7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688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버전관리 소프트웨어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2608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컴퓨터에서 동작 (오프라인 가능)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리누스 토르발스가 2005년 제작 (리눅스 커널 개발용)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 필요, GitHub 없이도 완결됨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565392" y="1691640"/>
            <a:ext cx="5120640" cy="3383280"/>
          </a:xfrm>
          <a:prstGeom prst="roundRect">
            <a:avLst>
              <a:gd name="adj" fmla="val 3243"/>
            </a:avLst>
          </a:prstGeom>
          <a:solidFill>
            <a:srgbClr val="F6F8FA"/>
          </a:solidFill>
          <a:ln w="15875">
            <a:solidFill>
              <a:srgbClr val="D0D7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85432" y="19659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885432" y="24688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3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저장소 호스팅 서비스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85432" y="292608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서버에서 동작 (인터넷 필요)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2008년 창업, 2018년 Microsoft 인수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PR·Issue·Actions 등 협업 기능 제공, Git 없이는 성립 불가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5303520"/>
            <a:ext cx="11183112" cy="548640"/>
          </a:xfrm>
          <a:prstGeom prst="roundRect">
            <a:avLst>
              <a:gd name="adj" fmla="val 13333"/>
            </a:avLst>
          </a:prstGeom>
          <a:solidFill>
            <a:srgbClr val="FFF1EE"/>
          </a:solidFill>
          <a:ln w="15875">
            <a:solidFill>
              <a:srgbClr val="FFD6C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53035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13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= 버전관리 도구,  GitHub = 그 도구로 만든 저장소를 올리는 서비스 중 하나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F050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· 저장소의 구조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04672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리포지터리의 5가지 영역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237744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F6F8FA"/>
          </a:solidFill>
          <a:ln w="15875">
            <a:solidFill>
              <a:srgbClr val="D0D7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25146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926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디렉토리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237744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F6F8FA"/>
          </a:solidFill>
          <a:ln w="15875">
            <a:solidFill>
              <a:srgbClr val="D0D7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37560" y="25146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2926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Area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237744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F6F8FA"/>
          </a:solidFill>
          <a:ln w="15875">
            <a:solidFill>
              <a:srgbClr val="D0D7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80760" y="25146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Repo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080760" y="2926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 내부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823960" y="237744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FFF1EE"/>
          </a:solidFill>
          <a:ln w="15875">
            <a:solidFill>
              <a:srgbClr val="FFD6C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823960" y="25146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8823960" y="2926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원격 서버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0" y="2871216"/>
            <a:ext cx="777240" cy="914"/>
          </a:xfrm>
          <a:prstGeom prst="line">
            <a:avLst/>
          </a:prstGeom>
          <a:noFill/>
          <a:ln w="25400">
            <a:solidFill>
              <a:srgbClr val="57606A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2560320" y="25877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303520" y="2871216"/>
            <a:ext cx="777240" cy="914"/>
          </a:xfrm>
          <a:prstGeom prst="line">
            <a:avLst/>
          </a:prstGeom>
          <a:noFill/>
          <a:ln w="25400">
            <a:solidFill>
              <a:srgbClr val="57606A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5303520" y="25877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46720" y="2871216"/>
            <a:ext cx="777240" cy="914"/>
          </a:xfrm>
          <a:prstGeom prst="line">
            <a:avLst/>
          </a:prstGeom>
          <a:noFill/>
          <a:ln w="25400">
            <a:solidFill>
              <a:srgbClr val="57606A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8046720" y="25877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 flipH="1">
            <a:off x="8046720" y="4059936"/>
            <a:ext cx="777240" cy="914"/>
          </a:xfrm>
          <a:prstGeom prst="line">
            <a:avLst/>
          </a:prstGeom>
          <a:noFill/>
          <a:ln w="25400">
            <a:solidFill>
              <a:srgbClr val="218BFF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8046720" y="37764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fetch/pull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 flipH="1">
            <a:off x="5303520" y="4059936"/>
            <a:ext cx="777240" cy="914"/>
          </a:xfrm>
          <a:prstGeom prst="line">
            <a:avLst/>
          </a:prstGeom>
          <a:noFill/>
          <a:ln w="25400">
            <a:solidFill>
              <a:srgbClr val="218BFF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5303520" y="37764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checkout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 flipH="1">
            <a:off x="2560320" y="4059936"/>
            <a:ext cx="777240" cy="914"/>
          </a:xfrm>
          <a:prstGeom prst="line">
            <a:avLst/>
          </a:prstGeom>
          <a:noFill/>
          <a:ln w="25400">
            <a:solidFill>
              <a:srgbClr val="218BFF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2560320" y="37764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8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4360" y="484632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3F0FF"/>
          </a:solidFill>
          <a:ln w="15875">
            <a:solidFill>
              <a:srgbClr val="D8CC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48463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3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Stash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A3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(임시 서랍)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576426" y="3383280"/>
            <a:ext cx="914" cy="1463040"/>
          </a:xfrm>
          <a:prstGeom prst="line">
            <a:avLst/>
          </a:prstGeom>
          <a:noFill/>
          <a:ln w="25400">
            <a:solidFill>
              <a:srgbClr val="8A6FE0"/>
            </a:solidFill>
            <a:prstDash val="dash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1120140" y="36393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stash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479792" y="484632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D0D7D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525512" y="48463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 → 스테이징 → 커밋 → 푸시가 기본 흐름,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Stash는 그 중간에 잠깐 치워두는 서랍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F050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· 저장소의 구조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04672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HEAD란 무엇인가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18311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114800"/>
                <a:gridCol w="41422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상태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HEAD가 가리키는 대상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커밋하면?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평소 (브랜치 위)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브랜치 (예: main)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브랜치도 함께 앞으로 이동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Detached HEAD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커밋을 직접 가리킴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브랜치 없이 커밋 — 나중에 유실 위험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02920" y="3063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HEAD~n / HEAD^n 표기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011680" y="4160520"/>
            <a:ext cx="1828800" cy="914"/>
          </a:xfrm>
          <a:prstGeom prst="line">
            <a:avLst/>
          </a:prstGeom>
          <a:noFill/>
          <a:ln w="25400">
            <a:solidFill>
              <a:srgbClr val="8C959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206240" y="4160520"/>
            <a:ext cx="1828800" cy="914"/>
          </a:xfrm>
          <a:prstGeom prst="line">
            <a:avLst/>
          </a:prstGeom>
          <a:noFill/>
          <a:ln w="25400">
            <a:solidFill>
              <a:srgbClr val="8C959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0" y="4160520"/>
            <a:ext cx="1828800" cy="914"/>
          </a:xfrm>
          <a:prstGeom prst="line">
            <a:avLst/>
          </a:prstGeom>
          <a:noFill/>
          <a:ln w="25400">
            <a:solidFill>
              <a:srgbClr val="8C959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45920" y="3977640"/>
            <a:ext cx="365760" cy="365760"/>
          </a:xfrm>
          <a:prstGeom prst="ellipse">
            <a:avLst/>
          </a:prstGeom>
          <a:solidFill>
            <a:srgbClr val="2D33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234440" y="437997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HEAD~3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368503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840480" y="3977640"/>
            <a:ext cx="365760" cy="365760"/>
          </a:xfrm>
          <a:prstGeom prst="ellipse">
            <a:avLst/>
          </a:prstGeom>
          <a:solidFill>
            <a:srgbClr val="2D33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29000" y="437997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HEAD~2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3429000" y="368503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c2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35040" y="3977640"/>
            <a:ext cx="365760" cy="365760"/>
          </a:xfrm>
          <a:prstGeom prst="ellipse">
            <a:avLst/>
          </a:prstGeom>
          <a:solidFill>
            <a:srgbClr val="2D33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623560" y="437997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HEAD~1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623560" y="368503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c3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229600" y="3977640"/>
            <a:ext cx="365760" cy="365760"/>
          </a:xfrm>
          <a:prstGeom prst="ellipse">
            <a:avLst/>
          </a:prstGeom>
          <a:solidFill>
            <a:srgbClr val="F050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818120" y="437997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818120" y="368503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c4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188720" y="4663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오래된 커밋 → 가장 최근 커밋 (오른쪽)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02920" y="5806440"/>
            <a:ext cx="11183112" cy="548640"/>
          </a:xfrm>
          <a:prstGeom prst="roundRect">
            <a:avLst>
              <a:gd name="adj" fmla="val 13333"/>
            </a:avLst>
          </a:prstGeom>
          <a:solidFill>
            <a:srgbClr val="FFF1EE"/>
          </a:solidFill>
          <a:ln w="15875">
            <a:solidFill>
              <a:srgbClr val="FFD6C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48640" y="58064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13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HEAD~2 = HEAD에서 2단계 이전 커밋 (병합 커밋도 첫 부모만 따라감)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F050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원격 저장소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04672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원격 저장소와 프로토콜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183112" cy="914400"/>
        </p:xfrm>
        <a:graphic>
          <a:graphicData uri="http://schemas.openxmlformats.org/drawingml/2006/table">
            <a:tbl>
              <a:tblPr/>
              <a:tblGrid>
                <a:gridCol w="2795778"/>
                <a:gridCol w="2795778"/>
                <a:gridCol w="2795778"/>
                <a:gridCol w="279577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프로토콜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주소 형태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비고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https://github.com/me/repo.git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아이디/토큰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가장 널리 지원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git@github.com:me/repo.git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SSH 키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방화벽 이슈 적음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/path/to/repo.git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파일 시스템 권한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로컬/네트워크 드라이브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git://...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없음 (평문)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사실상 폐기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846320"/>
            <a:ext cx="11183112" cy="685800"/>
          </a:xfrm>
          <a:prstGeom prst="roundRect">
            <a:avLst>
              <a:gd name="adj" fmla="val 10667"/>
            </a:avLst>
          </a:prstGeom>
          <a:solidFill>
            <a:srgbClr val="FFF1EE"/>
          </a:solidFill>
          <a:ln w="15875">
            <a:solidFill>
              <a:srgbClr val="FFD6C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484632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13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Repository = Workspace 없이 .git 내부(objects·refs·HEAD)만 있는 저장소 — 서버·공유용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5715000"/>
            <a:ext cx="11183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objects/ = 압축된 파일·커밋 데이터, refs/ = 브랜치·태그 포인터, HEAD = 기본 브랜치 참조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F050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원격 저장소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04672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config의 3단계 우선순위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2926080" cy="731520"/>
          </a:xfrm>
          <a:prstGeom prst="roundRect">
            <a:avLst>
              <a:gd name="adj" fmla="val 12500"/>
            </a:avLst>
          </a:prstGeom>
          <a:solidFill>
            <a:srgbClr val="F05033"/>
          </a:solidFill>
          <a:ln w="15875">
            <a:solidFill>
              <a:srgbClr val="D0D7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288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52360" y="1828800"/>
            <a:ext cx="4233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.git/config — 이 저장소에서만 적용 (우선순위 1위)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880360"/>
            <a:ext cx="4754880" cy="731520"/>
          </a:xfrm>
          <a:prstGeom prst="roundRect">
            <a:avLst>
              <a:gd name="adj" fmla="val 12500"/>
            </a:avLst>
          </a:prstGeom>
          <a:solidFill>
            <a:srgbClr val="C1391B"/>
          </a:solidFill>
          <a:ln w="15875">
            <a:solidFill>
              <a:srgbClr val="D0D7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8803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452360" y="2880360"/>
            <a:ext cx="4233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~/.gitconfig — 현재 사용자 전체에 적용 (우선순위 2위)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931920"/>
            <a:ext cx="6583680" cy="731520"/>
          </a:xfrm>
          <a:prstGeom prst="roundRect">
            <a:avLst>
              <a:gd name="adj" fmla="val 12500"/>
            </a:avLst>
          </a:prstGeom>
          <a:solidFill>
            <a:srgbClr val="57606A"/>
          </a:solidFill>
          <a:ln w="15875">
            <a:solidFill>
              <a:srgbClr val="D0D7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93192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452360" y="3931920"/>
            <a:ext cx="4233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/etc/gitconfig — 이 컴퓨터의 모든 사용자 (우선순위 3위, 가장 넓음)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5257800"/>
            <a:ext cx="11183112" cy="548640"/>
          </a:xfrm>
          <a:prstGeom prst="roundRect">
            <a:avLst>
              <a:gd name="adj" fmla="val 13333"/>
            </a:avLst>
          </a:prstGeom>
          <a:solidFill>
            <a:srgbClr val="FFF1EE"/>
          </a:solidFill>
          <a:ln w="15875">
            <a:solidFill>
              <a:srgbClr val="FFD6C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52578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13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키가 여러 단계에 있으면 더 좁은 범위(Local)가 이긴다: Local &gt; Global &gt; System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5806440"/>
          <a:ext cx="11183112" cy="914400"/>
        </p:xfrm>
        <a:graphic>
          <a:graphicData uri="http://schemas.openxmlformats.org/drawingml/2006/table">
            <a:tbl>
              <a:tblPr/>
              <a:tblGrid>
                <a:gridCol w="5591556"/>
                <a:gridCol w="5591556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자주 쓰는 키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user.name / user.email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커밋 작성자 정보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pull.rebase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 시 merge 대신 rebase 사용 여부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F050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원격 저장소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04672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Fetch와 Pull의 차이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FFF1EE"/>
          </a:solidFill>
          <a:ln w="15875">
            <a:solidFill>
              <a:srgbClr val="FFD6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0116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(origin)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80560" y="201168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F6F8FA"/>
          </a:solidFill>
          <a:ln w="15875">
            <a:solidFill>
              <a:srgbClr val="D0D7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20116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origin/main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(원격 추적 브랜치)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458200" y="201168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EAF5EA"/>
          </a:solidFill>
          <a:ln w="15875">
            <a:solidFill>
              <a:srgbClr val="B7E1B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03920" y="20116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(내 브랜치)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03320" y="2505456"/>
            <a:ext cx="777240" cy="914"/>
          </a:xfrm>
          <a:prstGeom prst="line">
            <a:avLst/>
          </a:prstGeom>
          <a:noFill/>
          <a:ln w="25400">
            <a:solidFill>
              <a:srgbClr val="57606A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3703320" y="22219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80960" y="2505456"/>
            <a:ext cx="777240" cy="914"/>
          </a:xfrm>
          <a:prstGeom prst="line">
            <a:avLst/>
          </a:prstGeom>
          <a:noFill/>
          <a:ln w="25400">
            <a:solidFill>
              <a:srgbClr val="1A7F37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7680960" y="22219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7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3017520"/>
            <a:ext cx="914" cy="685800"/>
          </a:xfrm>
          <a:prstGeom prst="line">
            <a:avLst/>
          </a:prstGeom>
          <a:noFill/>
          <a:ln w="19050">
            <a:solidFill>
              <a:srgbClr val="F0C36D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1384280" y="3017520"/>
            <a:ext cx="914" cy="685800"/>
          </a:xfrm>
          <a:prstGeom prst="line">
            <a:avLst/>
          </a:prstGeom>
          <a:noFill/>
          <a:ln w="19050">
            <a:solidFill>
              <a:srgbClr val="F0C36D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02920" y="3703320"/>
            <a:ext cx="11155680" cy="594360"/>
          </a:xfrm>
          <a:prstGeom prst="roundRect">
            <a:avLst>
              <a:gd name="adj" fmla="val 12308"/>
            </a:avLst>
          </a:prstGeom>
          <a:solidFill>
            <a:srgbClr val="FFFDF5"/>
          </a:solidFill>
          <a:ln w="15875">
            <a:solidFill>
              <a:srgbClr val="F0C36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703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= fetch + merge  (한 번에 실행)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4617720"/>
            <a:ext cx="11183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origin/main → 로컬에 저장된 '원격 추적 브랜치' (fetch로만 갱신됨, 직접 작업 X)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main → origin이라는 원격에 있는 main 브랜치를 가리키는 표현 (명령어 인자, 슬래시 없음)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F050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변경사항 이식하기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04672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Diff, Hunk, Patch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1B1F23"/>
          </a:solidFill>
          <a:ln w="15875">
            <a:solidFill>
              <a:srgbClr val="D0D7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결과 (수정 전 → 후)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774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add(a, b):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    return a+b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return a + b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89320" y="1691640"/>
            <a:ext cx="5696712" cy="2103120"/>
          </a:xfrm>
          <a:prstGeom prst="roundRect">
            <a:avLst>
              <a:gd name="adj" fmla="val 4348"/>
            </a:avLst>
          </a:prstGeom>
          <a:solidFill>
            <a:srgbClr val="F6F8FA"/>
          </a:solidFill>
          <a:ln w="15875">
            <a:solidFill>
              <a:srgbClr val="D0D7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63640" y="1874520"/>
            <a:ext cx="5148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Hunk 헤더 읽는 법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2286000"/>
            <a:ext cx="5148072" cy="411480"/>
          </a:xfrm>
          <a:prstGeom prst="roundRect">
            <a:avLst>
              <a:gd name="adj" fmla="val 13333"/>
            </a:avLst>
          </a:prstGeom>
          <a:solidFill>
            <a:srgbClr val="1B1F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2286000"/>
            <a:ext cx="4873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@@ -1,3 +1,4 @@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834640"/>
            <a:ext cx="5148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-1,3 → 이전 파일 1번째 줄부터 3줄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+1,4 → 이후 파일 1번째 줄부터 4줄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114800"/>
          <a:ext cx="11183112" cy="914400"/>
        </p:xfrm>
        <a:graphic>
          <a:graphicData uri="http://schemas.openxmlformats.org/drawingml/2006/table">
            <a:tbl>
              <a:tblPr/>
              <a:tblGrid>
                <a:gridCol w="3727704"/>
                <a:gridCol w="3727704"/>
                <a:gridCol w="372770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생성 명령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적용 명령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간단한 변경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diff &gt; x.patch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apply x.patch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커밋 이력 포함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format-patch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am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F050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변경사항 이식하기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04672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Cherry-pick: 커밋 하나만 복사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2677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40965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0" y="2468880"/>
            <a:ext cx="1463040" cy="914"/>
          </a:xfrm>
          <a:prstGeom prst="line">
            <a:avLst/>
          </a:prstGeom>
          <a:noFill/>
          <a:ln w="28575">
            <a:solidFill>
              <a:srgbClr val="8C959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2468880"/>
            <a:ext cx="1463040" cy="914"/>
          </a:xfrm>
          <a:prstGeom prst="line">
            <a:avLst/>
          </a:prstGeom>
          <a:noFill/>
          <a:ln w="28575">
            <a:solidFill>
              <a:srgbClr val="8C959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39696" y="2322576"/>
            <a:ext cx="292608" cy="292608"/>
          </a:xfrm>
          <a:prstGeom prst="ellipse">
            <a:avLst/>
          </a:prstGeom>
          <a:solidFill>
            <a:srgbClr val="2D33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02736" y="2322576"/>
            <a:ext cx="292608" cy="292608"/>
          </a:xfrm>
          <a:prstGeom prst="ellipse">
            <a:avLst/>
          </a:prstGeom>
          <a:solidFill>
            <a:srgbClr val="2D33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56632" y="2313432"/>
            <a:ext cx="310896" cy="310896"/>
          </a:xfrm>
          <a:prstGeom prst="ellipse">
            <a:avLst/>
          </a:prstGeom>
          <a:solidFill>
            <a:srgbClr val="F050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202082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0" y="4297680"/>
            <a:ext cx="1463040" cy="914"/>
          </a:xfrm>
          <a:prstGeom prst="line">
            <a:avLst/>
          </a:prstGeom>
          <a:noFill/>
          <a:ln w="28575">
            <a:solidFill>
              <a:srgbClr val="8C959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39696" y="4151376"/>
            <a:ext cx="292608" cy="292608"/>
          </a:xfrm>
          <a:prstGeom prst="ellipse">
            <a:avLst/>
          </a:prstGeom>
          <a:solidFill>
            <a:srgbClr val="2D33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02736" y="4151376"/>
            <a:ext cx="292608" cy="292608"/>
          </a:xfrm>
          <a:prstGeom prst="ellipse">
            <a:avLst/>
          </a:prstGeom>
          <a:solidFill>
            <a:srgbClr val="2D33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93992" y="4142232"/>
            <a:ext cx="310896" cy="310896"/>
          </a:xfrm>
          <a:prstGeom prst="ellipse">
            <a:avLst/>
          </a:prstGeom>
          <a:solidFill>
            <a:srgbClr val="C1391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55080" y="384962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C'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12080" y="2624328"/>
            <a:ext cx="1737360" cy="1517904"/>
          </a:xfrm>
          <a:prstGeom prst="line">
            <a:avLst/>
          </a:prstGeom>
          <a:noFill/>
          <a:ln w="28575">
            <a:solidFill>
              <a:srgbClr val="F05033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5257800" y="3246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cherry-pick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5212080"/>
            <a:ext cx="11183112" cy="502920"/>
          </a:xfrm>
          <a:prstGeom prst="roundRect">
            <a:avLst>
              <a:gd name="adj" fmla="val 14545"/>
            </a:avLst>
          </a:prstGeom>
          <a:solidFill>
            <a:srgbClr val="FFF1EE"/>
          </a:solidFill>
          <a:ln w="15875">
            <a:solidFill>
              <a:srgbClr val="FFD6C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2120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13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커밋 내용은 동일하지만 해시(SHA)는 새로 생성됨 — 완전히 새로운 커밋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5852160"/>
          <a:ext cx="11183112" cy="914400"/>
        </p:xfrm>
        <a:graphic>
          <a:graphicData uri="http://schemas.openxmlformats.org/drawingml/2006/table">
            <a:tbl>
              <a:tblPr/>
              <a:tblGrid>
                <a:gridCol w="5591556"/>
                <a:gridCol w="5591556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옵션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-n, --no-commit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적용만 하고 커밋은 만들지 않음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원본 커밋 해시를 메시지에 남김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F050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· REBASE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04672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Rebase의 기본 동작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분기됨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828800" y="2468880"/>
            <a:ext cx="2560320" cy="914"/>
          </a:xfrm>
          <a:prstGeom prst="line">
            <a:avLst/>
          </a:prstGeom>
          <a:noFill/>
          <a:ln w="28575">
            <a:solidFill>
              <a:srgbClr val="8C959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2468880"/>
            <a:ext cx="2560320" cy="822960"/>
          </a:xfrm>
          <a:prstGeom prst="line">
            <a:avLst/>
          </a:prstGeom>
          <a:noFill/>
          <a:ln w="28575">
            <a:solidFill>
              <a:srgbClr val="8C959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91640" y="2331720"/>
            <a:ext cx="274320" cy="274320"/>
          </a:xfrm>
          <a:prstGeom prst="ellipse">
            <a:avLst/>
          </a:prstGeom>
          <a:solidFill>
            <a:srgbClr val="2D33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71800" y="2331720"/>
            <a:ext cx="274320" cy="274320"/>
          </a:xfrm>
          <a:prstGeom prst="ellipse">
            <a:avLst/>
          </a:prstGeom>
          <a:solidFill>
            <a:srgbClr val="2D33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51960" y="2331720"/>
            <a:ext cx="274320" cy="274320"/>
          </a:xfrm>
          <a:prstGeom prst="ellipse">
            <a:avLst/>
          </a:prstGeom>
          <a:solidFill>
            <a:srgbClr val="2D33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94760" y="203911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71800" y="3154680"/>
            <a:ext cx="274320" cy="274320"/>
          </a:xfrm>
          <a:prstGeom prst="ellipse">
            <a:avLst/>
          </a:prstGeom>
          <a:solidFill>
            <a:srgbClr val="F050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1960" y="3154680"/>
            <a:ext cx="274320" cy="274320"/>
          </a:xfrm>
          <a:prstGeom prst="ellipse">
            <a:avLst/>
          </a:prstGeom>
          <a:solidFill>
            <a:srgbClr val="F050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94760" y="28620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main 뒤로 재배치(replay)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83680" y="2880360"/>
            <a:ext cx="1188720" cy="914"/>
          </a:xfrm>
          <a:prstGeom prst="line">
            <a:avLst/>
          </a:prstGeom>
          <a:noFill/>
          <a:ln w="28575">
            <a:solidFill>
              <a:srgbClr val="8C959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0" y="2880360"/>
            <a:ext cx="1188720" cy="914"/>
          </a:xfrm>
          <a:prstGeom prst="line">
            <a:avLst/>
          </a:prstGeom>
          <a:noFill/>
          <a:ln w="28575">
            <a:solidFill>
              <a:srgbClr val="8C959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61120" y="2880360"/>
            <a:ext cx="1188720" cy="914"/>
          </a:xfrm>
          <a:prstGeom prst="line">
            <a:avLst/>
          </a:prstGeom>
          <a:noFill/>
          <a:ln w="28575">
            <a:solidFill>
              <a:srgbClr val="8C959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49840" y="2880360"/>
            <a:ext cx="1188720" cy="914"/>
          </a:xfrm>
          <a:prstGeom prst="line">
            <a:avLst/>
          </a:prstGeom>
          <a:noFill/>
          <a:ln w="28575">
            <a:solidFill>
              <a:srgbClr val="8C959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2743200"/>
            <a:ext cx="274320" cy="274320"/>
          </a:xfrm>
          <a:prstGeom prst="ellipse">
            <a:avLst/>
          </a:prstGeom>
          <a:solidFill>
            <a:srgbClr val="2D33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35240" y="2743200"/>
            <a:ext cx="274320" cy="274320"/>
          </a:xfrm>
          <a:prstGeom prst="ellipse">
            <a:avLst/>
          </a:prstGeom>
          <a:solidFill>
            <a:srgbClr val="2D33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23960" y="2743200"/>
            <a:ext cx="274320" cy="274320"/>
          </a:xfrm>
          <a:prstGeom prst="ellipse">
            <a:avLst/>
          </a:prstGeom>
          <a:solidFill>
            <a:srgbClr val="2D33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12680" y="2743200"/>
            <a:ext cx="274320" cy="274320"/>
          </a:xfrm>
          <a:prstGeom prst="ellipse">
            <a:avLst/>
          </a:prstGeom>
          <a:solidFill>
            <a:srgbClr val="F050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01400" y="2743200"/>
            <a:ext cx="274320" cy="274320"/>
          </a:xfrm>
          <a:prstGeom prst="ellipse">
            <a:avLst/>
          </a:prstGeom>
          <a:solidFill>
            <a:srgbClr val="F050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784080" y="31363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4617720"/>
            <a:ext cx="111831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feature의 커밋들을 하나씩 떼어내 main의 최신 커밋 뒤에 새로 재생(replay)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결과적으로 히스토리가 한 줄로 이어짐 (병합 커밋 없음)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공유(push)한 커밋을 rebase하면 히스토리가 바뀌어 팀원과 충돌 — 개인 브랜치에서만 사용 (골든 룰)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F050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· REBASE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04672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Rebase 명령어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183112" cy="914400"/>
        </p:xfrm>
        <a:graphic>
          <a:graphicData uri="http://schemas.openxmlformats.org/drawingml/2006/table">
            <a:tbl>
              <a:tblPr/>
              <a:tblGrid>
                <a:gridCol w="5591556"/>
                <a:gridCol w="5591556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명령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동작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커밋을 그대로 사용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reword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커밋 메시지만 수정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커밋 내용을 직접 수정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이전 커밋과 합치고 메시지도 합침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이전 커밋과 합치되 메시지는 버림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커밋을 삭제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5669280"/>
            <a:ext cx="11183112" cy="594360"/>
          </a:xfrm>
          <a:prstGeom prst="roundRect">
            <a:avLst>
              <a:gd name="adj" fmla="val 12308"/>
            </a:avLst>
          </a:prstGeom>
          <a:solidFill>
            <a:srgbClr val="FFF1EE"/>
          </a:solidFill>
          <a:ln w="15875">
            <a:solidFill>
              <a:srgbClr val="FFD6C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566928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13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목록에서 줄 순서를 바꾸면 커밋 순서(reorder)도 바뀐다 — 위가 오래된 커밋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F050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· REBASE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04672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vs Rebase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783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— 히스토리 보존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463040" y="2514600"/>
            <a:ext cx="1188720" cy="914"/>
          </a:xfrm>
          <a:prstGeom prst="line">
            <a:avLst/>
          </a:prstGeom>
          <a:noFill/>
          <a:ln w="28575">
            <a:solidFill>
              <a:srgbClr val="8C959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2514600"/>
            <a:ext cx="1188720" cy="731520"/>
          </a:xfrm>
          <a:prstGeom prst="line">
            <a:avLst/>
          </a:prstGeom>
          <a:noFill/>
          <a:ln w="28575">
            <a:solidFill>
              <a:srgbClr val="8C959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51760" y="2514600"/>
            <a:ext cx="1188720" cy="914"/>
          </a:xfrm>
          <a:prstGeom prst="line">
            <a:avLst/>
          </a:prstGeom>
          <a:noFill/>
          <a:ln w="28575">
            <a:solidFill>
              <a:srgbClr val="8C959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2651760" y="2514600"/>
            <a:ext cx="1188720" cy="731520"/>
          </a:xfrm>
          <a:prstGeom prst="line">
            <a:avLst/>
          </a:prstGeom>
          <a:noFill/>
          <a:ln w="28575">
            <a:solidFill>
              <a:srgbClr val="8C95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35024" y="2386584"/>
            <a:ext cx="256032" cy="256032"/>
          </a:xfrm>
          <a:prstGeom prst="ellipse">
            <a:avLst/>
          </a:prstGeom>
          <a:solidFill>
            <a:srgbClr val="2D33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23744" y="2386584"/>
            <a:ext cx="256032" cy="256032"/>
          </a:xfrm>
          <a:prstGeom prst="ellipse">
            <a:avLst/>
          </a:prstGeom>
          <a:solidFill>
            <a:srgbClr val="2D33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23744" y="3118104"/>
            <a:ext cx="256032" cy="256032"/>
          </a:xfrm>
          <a:prstGeom prst="ellipse">
            <a:avLst/>
          </a:prstGeom>
          <a:solidFill>
            <a:srgbClr val="F050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94176" y="2368296"/>
            <a:ext cx="292608" cy="292608"/>
          </a:xfrm>
          <a:prstGeom prst="ellipse">
            <a:avLst/>
          </a:prstGeom>
          <a:solidFill>
            <a:srgbClr val="C1391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46120" y="207568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커밋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17830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Rebase — 히스토리 선형화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675120" y="2880360"/>
            <a:ext cx="1097280" cy="914"/>
          </a:xfrm>
          <a:prstGeom prst="line">
            <a:avLst/>
          </a:prstGeom>
          <a:noFill/>
          <a:ln w="28575">
            <a:solidFill>
              <a:srgbClr val="8C959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0" y="2880360"/>
            <a:ext cx="1097280" cy="914"/>
          </a:xfrm>
          <a:prstGeom prst="line">
            <a:avLst/>
          </a:prstGeom>
          <a:noFill/>
          <a:ln w="28575">
            <a:solidFill>
              <a:srgbClr val="8C959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69680" y="2880360"/>
            <a:ext cx="1097280" cy="914"/>
          </a:xfrm>
          <a:prstGeom prst="line">
            <a:avLst/>
          </a:prstGeom>
          <a:noFill/>
          <a:ln w="28575">
            <a:solidFill>
              <a:srgbClr val="8C959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47104" y="2752344"/>
            <a:ext cx="256032" cy="256032"/>
          </a:xfrm>
          <a:prstGeom prst="ellipse">
            <a:avLst/>
          </a:prstGeom>
          <a:solidFill>
            <a:srgbClr val="2D33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44384" y="2752344"/>
            <a:ext cx="256032" cy="256032"/>
          </a:xfrm>
          <a:prstGeom prst="ellipse">
            <a:avLst/>
          </a:prstGeom>
          <a:solidFill>
            <a:srgbClr val="2D33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41664" y="2752344"/>
            <a:ext cx="256032" cy="256032"/>
          </a:xfrm>
          <a:prstGeom prst="ellipse">
            <a:avLst/>
          </a:prstGeom>
          <a:solidFill>
            <a:srgbClr val="F050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38944" y="2752344"/>
            <a:ext cx="256032" cy="256032"/>
          </a:xfrm>
          <a:prstGeom prst="ellipse">
            <a:avLst/>
          </a:prstGeom>
          <a:solidFill>
            <a:srgbClr val="F05033"/>
          </a:solidFill>
          <a:ln w="19050">
            <a:solidFill>
              <a:srgbClr val="FFFFFF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114800"/>
          <a:ext cx="11183112" cy="914400"/>
        </p:xfrm>
        <a:graphic>
          <a:graphicData uri="http://schemas.openxmlformats.org/drawingml/2006/table">
            <a:tbl>
              <a:tblPr/>
              <a:tblGrid>
                <a:gridCol w="3727704"/>
                <a:gridCol w="3727704"/>
                <a:gridCol w="372770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Rebase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히스토리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분기 그대로 보존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한 줄로 재작성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새 커밋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병합 커밋 생성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생성 안 함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공유 브랜치 안전성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안전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위험 (골든 룰 위반 시)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502920" y="5989320"/>
            <a:ext cx="11183112" cy="502920"/>
          </a:xfrm>
          <a:prstGeom prst="roundRect">
            <a:avLst>
              <a:gd name="adj" fmla="val 14545"/>
            </a:avLst>
          </a:prstGeom>
          <a:solidFill>
            <a:srgbClr val="FFF1EE"/>
          </a:solidFill>
          <a:ln w="15875">
            <a:solidFill>
              <a:srgbClr val="FFD6C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48640" y="598932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13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협업 중인 공유 브랜치엔 Merge, 개인 브랜치 정리엔 Rebase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F050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· 되돌리기 전략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04672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Reset, Revert, Reflog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183112" cy="914400"/>
        </p:xfrm>
        <a:graphic>
          <a:graphicData uri="http://schemas.openxmlformats.org/drawingml/2006/table">
            <a:tbl>
              <a:tblPr/>
              <a:tblGrid>
                <a:gridCol w="2795778"/>
                <a:gridCol w="2795778"/>
                <a:gridCol w="2795778"/>
                <a:gridCol w="279577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옵션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Workspace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--soft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이동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유지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유지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--mixed (기본값)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이동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초기화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유지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--hard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이동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초기화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초기화 (⚠ 위험)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520440"/>
          <a:ext cx="11183112" cy="914400"/>
        </p:xfrm>
        <a:graphic>
          <a:graphicData uri="http://schemas.openxmlformats.org/drawingml/2006/table">
            <a:tbl>
              <a:tblPr/>
              <a:tblGrid>
                <a:gridCol w="5591556"/>
                <a:gridCol w="559155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커밋 이력을 되돌려 지움 (로컬 정리용)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반대 내용의 새 커밋을 추가 (공유 브랜치 안전)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02920" y="4617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Reflog — 사라진 것처럼 보이는 커밋 복구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2920" y="5029200"/>
            <a:ext cx="5394960" cy="457200"/>
          </a:xfrm>
          <a:prstGeom prst="roundRect">
            <a:avLst>
              <a:gd name="adj" fmla="val 12000"/>
            </a:avLst>
          </a:prstGeom>
          <a:solidFill>
            <a:srgbClr val="1B1F23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5029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reflog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263640" y="5029200"/>
            <a:ext cx="5422392" cy="457200"/>
          </a:xfrm>
          <a:prstGeom prst="roundRect">
            <a:avLst>
              <a:gd name="adj" fmla="val 12000"/>
            </a:avLst>
          </a:prstGeom>
          <a:solidFill>
            <a:srgbClr val="1B1F23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400800" y="5029200"/>
            <a:ext cx="5148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reset --hard HEAD@{2}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02920" y="5806440"/>
            <a:ext cx="11183112" cy="548640"/>
          </a:xfrm>
          <a:prstGeom prst="roundRect">
            <a:avLst>
              <a:gd name="adj" fmla="val 13333"/>
            </a:avLst>
          </a:prstGeom>
          <a:solidFill>
            <a:srgbClr val="FFF1EE"/>
          </a:solidFill>
          <a:ln w="15875">
            <a:solidFill>
              <a:srgbClr val="FFD6C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48640" y="58064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13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reflog는 로컬 저장소의 HEAD 이동 기록 — reset --hard로 날아간 커밋도 대부분 복구 가능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F050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· 작업 공간 확장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04672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Worktree: 여러 디렉토리, 하나의 .git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631436" y="1737360"/>
            <a:ext cx="2926080" cy="640080"/>
          </a:xfrm>
          <a:prstGeom prst="roundRect">
            <a:avLst>
              <a:gd name="adj" fmla="val 14286"/>
            </a:avLst>
          </a:prstGeom>
          <a:solidFill>
            <a:srgbClr val="1B1F23"/>
          </a:solidFill>
          <a:ln w="15875">
            <a:solidFill>
              <a:srgbClr val="D0D7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677156" y="17373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 (저장소 데이터)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 flipH="1">
            <a:off x="2148840" y="2377440"/>
            <a:ext cx="3945636" cy="731520"/>
          </a:xfrm>
          <a:prstGeom prst="line">
            <a:avLst/>
          </a:prstGeom>
          <a:noFill/>
          <a:ln w="28575">
            <a:solidFill>
              <a:srgbClr val="8C959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502920" y="3108960"/>
            <a:ext cx="3291840" cy="822960"/>
          </a:xfrm>
          <a:prstGeom prst="roundRect">
            <a:avLst>
              <a:gd name="adj" fmla="val 11111"/>
            </a:avLst>
          </a:prstGeom>
          <a:solidFill>
            <a:srgbClr val="F6F8FA"/>
          </a:solidFill>
          <a:ln w="15875">
            <a:solidFill>
              <a:srgbClr val="D0D7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1089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Worktree #1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(main)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flipH="1">
            <a:off x="5897880" y="2377440"/>
            <a:ext cx="196596" cy="731520"/>
          </a:xfrm>
          <a:prstGeom prst="line">
            <a:avLst/>
          </a:prstGeom>
          <a:noFill/>
          <a:ln w="28575">
            <a:solidFill>
              <a:srgbClr val="8C959F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251960" y="3108960"/>
            <a:ext cx="3291840" cy="822960"/>
          </a:xfrm>
          <a:prstGeom prst="roundRect">
            <a:avLst>
              <a:gd name="adj" fmla="val 11111"/>
            </a:avLst>
          </a:prstGeom>
          <a:solidFill>
            <a:srgbClr val="F6F8FA"/>
          </a:solidFill>
          <a:ln w="15875">
            <a:solidFill>
              <a:srgbClr val="D0D7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97680" y="31089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Worktree #2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(feature-a)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94476" y="2377440"/>
            <a:ext cx="3552444" cy="731520"/>
          </a:xfrm>
          <a:prstGeom prst="line">
            <a:avLst/>
          </a:prstGeom>
          <a:noFill/>
          <a:ln w="28575">
            <a:solidFill>
              <a:srgbClr val="8C959F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8001000" y="3108960"/>
            <a:ext cx="3291840" cy="822960"/>
          </a:xfrm>
          <a:prstGeom prst="roundRect">
            <a:avLst>
              <a:gd name="adj" fmla="val 11111"/>
            </a:avLst>
          </a:prstGeom>
          <a:solidFill>
            <a:srgbClr val="F6F8FA"/>
          </a:solidFill>
          <a:ln w="15875">
            <a:solidFill>
              <a:srgbClr val="D0D7D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6720" y="31089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Worktree #3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(feature-b)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4297680"/>
            <a:ext cx="11183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워크트리는 독립된 디렉토리와 체크아웃 상태를 가짐 (커밋 데이터는 공유)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브랜치는 동시에 두 워크트리에서 체크아웃 불가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에이전트와 궁합이 좋음: 여러 작업을 동시에 격리된 디렉토리에서 병렬 실행 가능</a:t>
            </a:r>
            <a:endParaRPr lang="en-US" sz="13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5577840"/>
          <a:ext cx="11183112" cy="914400"/>
        </p:xfrm>
        <a:graphic>
          <a:graphicData uri="http://schemas.openxmlformats.org/drawingml/2006/table">
            <a:tbl>
              <a:tblPr/>
              <a:tblGrid>
                <a:gridCol w="5591556"/>
                <a:gridCol w="559155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명령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역할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worktree add &lt;경로&gt; &lt;브랜치&gt;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새 워크트리 생성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worktree list / remove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목록 확인 / 제거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F050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· 작업 공간 확장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04672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Submodule: 저장소 안의 저장소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5303520" cy="2743200"/>
          </a:xfrm>
          <a:prstGeom prst="roundRect">
            <a:avLst>
              <a:gd name="adj" fmla="val 3333"/>
            </a:avLst>
          </a:prstGeom>
          <a:solidFill>
            <a:srgbClr val="F6F8FA"/>
          </a:solidFill>
          <a:ln w="15875">
            <a:solidFill>
              <a:srgbClr val="D0D7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부모 저장소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23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8072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1912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.gitmodules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3611880"/>
            <a:ext cx="4754880" cy="548640"/>
          </a:xfrm>
          <a:prstGeom prst="roundRect">
            <a:avLst>
              <a:gd name="adj" fmla="val 13333"/>
            </a:avLst>
          </a:prstGeom>
          <a:solidFill>
            <a:srgbClr val="FFF1EE"/>
          </a:solidFill>
          <a:ln w="15875">
            <a:solidFill>
              <a:srgbClr val="F050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6118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13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library/  →  commit a1b2c3d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086600" y="2560320"/>
            <a:ext cx="4599432" cy="1097280"/>
          </a:xfrm>
          <a:prstGeom prst="roundRect">
            <a:avLst>
              <a:gd name="adj" fmla="val 8333"/>
            </a:avLst>
          </a:prstGeom>
          <a:solidFill>
            <a:srgbClr val="1B1F23"/>
          </a:solidFill>
          <a:ln w="15875">
            <a:solidFill>
              <a:srgbClr val="D0D7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0" y="2560320"/>
            <a:ext cx="4507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(독립된 Git 저장소)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 flipV="1">
            <a:off x="5715000" y="3108960"/>
            <a:ext cx="1463040" cy="777240"/>
          </a:xfrm>
          <a:prstGeom prst="line">
            <a:avLst/>
          </a:prstGeom>
          <a:noFill/>
          <a:ln w="28575">
            <a:solidFill>
              <a:srgbClr val="F050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97880" y="25146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가리킴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(포인터)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4800600"/>
            <a:ext cx="11183112" cy="685800"/>
          </a:xfrm>
          <a:prstGeom prst="roundRect">
            <a:avLst>
              <a:gd name="adj" fmla="val 10667"/>
            </a:avLst>
          </a:prstGeom>
          <a:solidFill>
            <a:srgbClr val="FFF1EE"/>
          </a:solidFill>
          <a:ln w="15875">
            <a:solidFill>
              <a:srgbClr val="FFD6C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80060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13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부모 저장소는 자식의 코드가 아니라 .gitmodules + 커밋 해시 포인터(gitlink)만 저장한다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F050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· 작업 공간 확장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04672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Monorepo vs Multirepo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5120640" cy="22860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15875">
            <a:solidFill>
              <a:srgbClr val="D0D7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— 저장소 1개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7432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0D7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7432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23160" y="27432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0D7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68880" y="27432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23360" y="27432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0D7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69080" y="27432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080760" y="1920240"/>
            <a:ext cx="5605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Multirepo — 저장소 여러 개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80760" y="2743200"/>
            <a:ext cx="1685544" cy="914400"/>
          </a:xfrm>
          <a:prstGeom prst="roundRect">
            <a:avLst>
              <a:gd name="adj" fmla="val 8000"/>
            </a:avLst>
          </a:prstGeom>
          <a:solidFill>
            <a:srgbClr val="1B1F23"/>
          </a:solidFill>
          <a:ln w="15875">
            <a:solidFill>
              <a:srgbClr val="D0D7D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26480" y="2743200"/>
            <a:ext cx="1594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(자체 .git)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40624" y="2743200"/>
            <a:ext cx="1685544" cy="914400"/>
          </a:xfrm>
          <a:prstGeom prst="roundRect">
            <a:avLst>
              <a:gd name="adj" fmla="val 8000"/>
            </a:avLst>
          </a:prstGeom>
          <a:solidFill>
            <a:srgbClr val="1B1F23"/>
          </a:solidFill>
          <a:ln w="15875">
            <a:solidFill>
              <a:srgbClr val="D0D7D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86344" y="2743200"/>
            <a:ext cx="1594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B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(자체 .git)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000488" y="2743200"/>
            <a:ext cx="1685544" cy="914400"/>
          </a:xfrm>
          <a:prstGeom prst="roundRect">
            <a:avLst>
              <a:gd name="adj" fmla="val 8000"/>
            </a:avLst>
          </a:prstGeom>
          <a:solidFill>
            <a:srgbClr val="1B1F23"/>
          </a:solidFill>
          <a:ln w="15875">
            <a:solidFill>
              <a:srgbClr val="D0D7D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46208" y="2743200"/>
            <a:ext cx="1594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C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(자체 .git)</a:t>
            </a:r>
            <a:endParaRPr lang="en-US" sz="11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297680"/>
          <a:ext cx="11183112" cy="914400"/>
        </p:xfrm>
        <a:graphic>
          <a:graphicData uri="http://schemas.openxmlformats.org/drawingml/2006/table">
            <a:tbl>
              <a:tblPr/>
              <a:tblGrid>
                <a:gridCol w="3727704"/>
                <a:gridCol w="3727704"/>
                <a:gridCol w="372770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Monorepo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Multirepo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의존성 관리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한 곳에서 관리, 버전 통일 쉬움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저장소별 독립, 버전 어긋날 수 있음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빌드/CI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규모 커지면 느려질 수 있음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저장소별로 독립 실행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권한 분리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세밀한 접근 제어 어려움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저장소 단위로 쉽게 분리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F050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마무리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04672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명령어 치트시트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5408676" cy="914400"/>
        </p:xfrm>
        <a:graphic>
          <a:graphicData uri="http://schemas.openxmlformats.org/drawingml/2006/table">
            <a:tbl>
              <a:tblPr/>
              <a:tblGrid>
                <a:gridCol w="2704338"/>
                <a:gridCol w="270433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기본 흐름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명령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변경 반영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/ commit / push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되돌리기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restore / reset / revert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동기화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 / pull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임시 보관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기록 확인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--graph / reflog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7356" y="1691640"/>
          <a:ext cx="5408676" cy="914400"/>
        </p:xfrm>
        <a:graphic>
          <a:graphicData uri="http://schemas.openxmlformats.org/drawingml/2006/table">
            <a:tbl>
              <a:tblPr/>
              <a:tblGrid>
                <a:gridCol w="2704338"/>
                <a:gridCol w="270433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고급 작업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명령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이력 정리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rebase -i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커밋 이식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cherry-pick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패치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format-patch / am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병렬 작업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worktree add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하위 저장소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submodule add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02920" y="5623560"/>
            <a:ext cx="11183112" cy="594360"/>
          </a:xfrm>
          <a:prstGeom prst="roundRect">
            <a:avLst>
              <a:gd name="adj" fmla="val 12308"/>
            </a:avLst>
          </a:prstGeom>
          <a:solidFill>
            <a:srgbClr val="FFF1EE"/>
          </a:solidFill>
          <a:ln w="15875">
            <a:solidFill>
              <a:srgbClr val="FFD6CC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" y="562356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13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장별 전체 치트시트는 각 장 마지막 페이지와 08-2 문서에 정리되어 있습니다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F050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마무리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04672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참고 자료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3483864" cy="3291840"/>
          </a:xfrm>
          <a:prstGeom prst="roundRect">
            <a:avLst>
              <a:gd name="adj" fmla="val 2778"/>
            </a:avLst>
          </a:prstGeom>
          <a:solidFill>
            <a:srgbClr val="F6F8FA"/>
          </a:solidFill>
          <a:ln w="15875">
            <a:solidFill>
              <a:srgbClr val="D0D7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13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문서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23160"/>
            <a:ext cx="3026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git-scm.com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git-scm.com/docs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Git (한국어)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Docs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52544" y="1737360"/>
            <a:ext cx="3483864" cy="3291840"/>
          </a:xfrm>
          <a:prstGeom prst="roundRect">
            <a:avLst>
              <a:gd name="adj" fmla="val 2778"/>
            </a:avLst>
          </a:prstGeom>
          <a:solidFill>
            <a:srgbClr val="F6F8FA"/>
          </a:solidFill>
          <a:ln w="15875">
            <a:solidFill>
              <a:srgbClr val="D0D7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192024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13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· 실습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2423160"/>
            <a:ext cx="3026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Git Branching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 Shit, Git!?!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Atlassian Git Tutorials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ndpsoftware Git Cheatsheet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02168" y="1737360"/>
            <a:ext cx="3483864" cy="3291840"/>
          </a:xfrm>
          <a:prstGeom prst="roundRect">
            <a:avLst>
              <a:gd name="adj" fmla="val 2778"/>
            </a:avLst>
          </a:prstGeom>
          <a:solidFill>
            <a:srgbClr val="F6F8FA"/>
          </a:solidFill>
          <a:ln w="15875">
            <a:solidFill>
              <a:srgbClr val="D0D7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30768" y="192024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13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심화 주제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8430768" y="2423160"/>
            <a:ext cx="3026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Git — Git Internals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Submodules 공식 가이드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Worktree 공식 문서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1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C1391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4206240"/>
            <a:ext cx="3657600" cy="3657600"/>
          </a:xfrm>
          <a:prstGeom prst="ellipse">
            <a:avLst/>
          </a:prstGeom>
          <a:solidFill>
            <a:srgbClr val="F05033">
              <a:alpha val="3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743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감사합니다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657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실습(prac/)과 전체 치트시트는 저장소 문서를 참고하세요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297680"/>
            <a:ext cx="4389120" cy="502920"/>
          </a:xfrm>
          <a:prstGeom prst="roundRect">
            <a:avLst>
              <a:gd name="adj" fmla="val 10909"/>
            </a:avLst>
          </a:prstGeom>
          <a:solidFill>
            <a:srgbClr val="1B1F2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42976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switch -c my-next-branch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심화 강의</dc:title>
  <dc:subject>PptxGenJS Presentation</dc:subject>
  <dc:creator>jihee</dc:creator>
  <cp:lastModifiedBy>jihee</cp:lastModifiedBy>
  <cp:revision>1</cp:revision>
  <dcterms:created xsi:type="dcterms:W3CDTF">2026-09-19T18:32:33Z</dcterms:created>
  <dcterms:modified xsi:type="dcterms:W3CDTF">2026-09-19T18:32:33Z</dcterms:modified>
</cp:coreProperties>
</file>